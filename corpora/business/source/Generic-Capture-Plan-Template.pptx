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11535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Capture Plan</a:t>
            </a:r>
          </a:p>
          <a:p>
            <a:r>
              <a:rPr sz="1600">
                <a:solidFill>
                  <a:srgbClr val="B88A2E"/>
                </a:solidFill>
              </a:rPr>
              <a:t>Template — Generic / Non-Sensitive Reference 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222222"/>
                </a:solidFill>
              </a:rPr>
              <a:t>Customer:  [Enter customer name]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222222"/>
                </a:solidFill>
              </a:rPr>
              <a:t>Opportunity name:  [Enter opportunity name]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222222"/>
                </a:solidFill>
              </a:rPr>
              <a:t>Opportunity ID (CRM):  [Enter ID]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222222"/>
                </a:solidFill>
              </a:rPr>
              <a:t>Bidding entity:  Meridian Industries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35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5A5F66"/>
                </a:solidFill>
              </a:rPr>
              <a:t>Meridian Industries — Bid &amp; Capture Management Reference Template (fictional company, for training/reference use only)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</a:rPr>
              <a:t>How to Use This Template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31750"/>
          </a:xfrm>
          <a:prstGeom prst="rect">
            <a:avLst/>
          </a:prstGeom>
          <a:solidFill>
            <a:srgbClr val="B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789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</a:rPr>
              <a:t>Please refer to the Bid Management Handbook for: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</a:rPr>
              <a:t>•  The process stage at which this document is used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</a:rPr>
              <a:t>•  The applicability criteria (business unit, geography, deal size) for this template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</a:rPr>
              <a:t>•  The latest approved version of this template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</a:rPr>
              <a:t>If this document does not appear in your Bid Management Portal, it does not apply to your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</a:rPr>
              <a:t>context under your current profile configuration.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0"/>
            <a:ext cx="10789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222222"/>
                </a:solidFill>
              </a:rPr>
              <a:t>Abstract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</a:rPr>
              <a:t>This document is the minimum baseline to define the capture strategy, monitor the capture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</a:rPr>
              <a:t>action plan, and support Gate 0 and subsequent capture review presentations. It is expected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</a:rPr>
              <a:t>to evolve over the life of the pursuit — early versions will have significant gaps, which is normal.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F66"/>
                </a:solidFill>
              </a:rPr>
              <a:t>Meridian Industries — Capture Plan Template  |  Section 0: Introduction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</a:rPr>
              <a:t>Contents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31750"/>
          </a:xfrm>
          <a:prstGeom prst="rect">
            <a:avLst/>
          </a:prstGeom>
          <a:solidFill>
            <a:srgbClr val="B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>
                <a:solidFill>
                  <a:srgbClr val="222222"/>
                </a:solidFill>
              </a:rPr>
              <a:t>1. Capture Strategy Pitch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222222"/>
                </a:solidFill>
              </a:rPr>
              <a:t>2. Opportunity Summary — Customer Context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222222"/>
                </a:solidFill>
              </a:rPr>
              <a:t>3. Customer Value Proposition Action Plan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222222"/>
                </a:solidFill>
              </a:rPr>
              <a:t>4. Pricing Strategy &amp; Business Model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222222"/>
                </a:solidFill>
              </a:rPr>
              <a:t>5. Solution Strategy &amp; Risk Profile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222222"/>
                </a:solidFill>
              </a:rPr>
              <a:t>6. Decision-Maker Plan &amp; Action Timeline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222222"/>
                </a:solidFill>
              </a:rPr>
              <a:t>7. Pursue / Not-Pursue Decision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222222"/>
                </a:solidFill>
              </a:rPr>
              <a:t>8. Backup — Qualification Checklist, Competitive Environment,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F66"/>
                </a:solidFill>
              </a:rPr>
              <a:t>Meridian Industries — Capture Plan Template  |  Section 0: Contents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</a:rPr>
              <a:t>Capture Strategy Pitch</a:t>
            </a:r>
          </a:p>
          <a:p>
            <a:r>
              <a:rPr sz="1400" i="1">
                <a:solidFill>
                  <a:srgbClr val="5A5F66"/>
                </a:solidFill>
              </a:rPr>
              <a:t>What are the main stakes? How do we win?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31750"/>
          </a:xfrm>
          <a:prstGeom prst="rect">
            <a:avLst/>
          </a:prstGeom>
          <a:solidFill>
            <a:srgbClr val="B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6400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222222"/>
                </a:solidFill>
              </a:rPr>
              <a:t>Pitch — why we need to win, why we can win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22222"/>
                </a:solidFill>
              </a:rPr>
              <a:t>We recommend investing in this pursuit because 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22222"/>
                </a:solidFill>
              </a:rPr>
              <a:t>We can win if we 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22222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22222"/>
                </a:solidFill>
              </a:rPr>
              <a:t>Progress in capture / bid / negotiation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22222"/>
                </a:solidFill>
              </a:rPr>
              <a:t>Key phases of capture / bid are 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22222"/>
                </a:solidFill>
              </a:rPr>
              <a:t>Progress since the last gate / signs of change: …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22222"/>
                </a:solidFill>
              </a:rPr>
              <a:t>Next steps: 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0" y="1371600"/>
            <a:ext cx="45720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222222"/>
                </a:solidFill>
              </a:rPr>
              <a:t>Mandate / decision requested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22222"/>
                </a:solidFill>
              </a:rPr>
              <a:t>•  Approve expected capture budget: xx k€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22222"/>
                </a:solidFill>
              </a:rPr>
              <a:t>•  Approve key resource allocation: xx, yy, zz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22222"/>
                </a:solidFill>
              </a:rPr>
              <a:t>•  Approve positioning-to-win strategy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22222"/>
                </a:solidFill>
              </a:rPr>
              <a:t>•  Confirm Must-Win status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22222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22222"/>
                </a:solidFill>
              </a:rPr>
              <a:t>Key topics to be discussed and decided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4754880"/>
          <a:ext cx="1106424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8298180"/>
              </a:tblGrid>
              <a:tr h="4267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b="1">
                          <a:solidFill>
                            <a:srgbClr val="FFFFFF"/>
                          </a:solidFill>
                        </a:rPr>
                        <a:t>Governance Gate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b="1">
                          <a:solidFill>
                            <a:srgbClr val="FFFFFF"/>
                          </a:solidFill>
                        </a:rPr>
                        <a:t>Status / Comment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/>
                        <a:t>Gate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/>
                        <a:t>Capture Review(s)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F66"/>
                </a:solidFill>
              </a:rPr>
              <a:t>Meridian Industries — Capture Plan Template  |  Section 1: Capture Strategy Pitch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</a:rPr>
              <a:t>Opportunity Summary — Customer Context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31750"/>
          </a:xfrm>
          <a:prstGeom prst="rect">
            <a:avLst/>
          </a:prstGeom>
          <a:solidFill>
            <a:srgbClr val="B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80160"/>
          <a:ext cx="55778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5568"/>
                <a:gridCol w="1115568"/>
                <a:gridCol w="1115568"/>
                <a:gridCol w="1115568"/>
                <a:gridCol w="1115568"/>
              </a:tblGrid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Customer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End user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Account name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Main competitors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Segment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/>
                        <a:t>[Direct customer]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/>
                        <a:t>[End user]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/>
                        <a:t>[Account name]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/>
                        <a:t>[Competitors]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/>
                        <a:t>[Segment]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/>
                        <a:t>Destination country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/>
                        <a:t>Specific milestones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/>
                        <a:t>[Country]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/>
                        <a:t>e.g. site survey, demo, procurement process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26480" y="128016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  <a:gridCol w="1097280"/>
              </a:tblGrid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Expected amount (M€)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P1 %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P2 %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Must-win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/>
                        <a:t>Yes / 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/>
                        <a:t>Bid governance level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/>
                        <a:t>Expected contract duration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/>
                        <a:t>Gate 1 date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/>
                        <a:t>Project T0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/>
                        <a:t>Bid submission date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/>
                        <a:t>[B0/B1/B2/Critical]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/>
                        <a:t>xx years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/>
                        <a:t>xx/xx/xxxx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/>
                        <a:t>xx/xx/xxxx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/>
                        <a:t>xx/xx/xxxx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3291840"/>
          <a:ext cx="1124712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5943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b="1">
                          <a:solidFill>
                            <a:srgbClr val="FFFFFF"/>
                          </a:solidFill>
                        </a:rPr>
                        <a:t>Scope of the opportunity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b="1">
                          <a:solidFill>
                            <a:srgbClr val="FFFFFF"/>
                          </a:solidFill>
                        </a:rPr>
                        <a:t>History &amp; background with customer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/>
                        <a:t>Describe products / services / solution scope and any related projects that may be impacted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/>
                        <a:t>Prior contracts, typical payment terms, other offers previously submitted to this customer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663440"/>
          <a:ext cx="11247117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9308"/>
                <a:gridCol w="899769"/>
                <a:gridCol w="1799539"/>
                <a:gridCol w="899769"/>
                <a:gridCol w="1799539"/>
                <a:gridCol w="1349654"/>
                <a:gridCol w="1799539"/>
              </a:tblGrid>
              <a:tr h="43434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Expected benefits for us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/>
                        <a:t>Technology development / business development &amp; positioning / impact on future contracts / strategic partnership / competencies / cost reduction 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/>
                        <a:t>Offset requirements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/>
                        <a:t>Yes/No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/>
                        <a:t>Special requirements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/>
                        <a:t>Yes/No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/>
                        <a:t>Financial challenge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/>
                        <a:t>Competitive-intel review required?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/>
                        <a:t>Transfer of technology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/>
                        <a:t>Yes/No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/>
                        <a:t>Export licence required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/>
                        <a:t>Yes/No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/>
                        <a:t>Cost control?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/>
                        <a:t>Yes/Potential/No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/>
                        <a:t>Yes/No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F66"/>
                </a:solidFill>
              </a:rPr>
              <a:t>Meridian Industries — Capture Plan Template  |  Section 2: Opportunity Summary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</a:rPr>
              <a:t>Action Plan to Build the Customer Value Proposition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31750"/>
          </a:xfrm>
          <a:prstGeom prst="rect">
            <a:avLst/>
          </a:prstGeom>
          <a:solidFill>
            <a:srgbClr val="B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34440"/>
          <a:ext cx="11247118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6944"/>
                <a:gridCol w="1099342"/>
                <a:gridCol w="845648"/>
                <a:gridCol w="845648"/>
                <a:gridCol w="845648"/>
                <a:gridCol w="1268472"/>
                <a:gridCol w="2536944"/>
                <a:gridCol w="1268472"/>
              </a:tblGrid>
              <a:tr h="38100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Top customer key buying factors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Importance (L1/M3/H5)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Us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Comp. A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Comp. B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Action owner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To do (capture) / To say (bid)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Expected result / new score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/>
                        <a:t>Maximize local employment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/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/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/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/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/>
                        <a:t>[Owner]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/>
                        <a:t>Plan for knowledge transfer; convince on maintenance-transfer capability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/>
                        <a:t>→ target 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/>
                        <a:t>Increase performance by 20%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/>
                        <a:t>3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/>
                        <a:t>1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/>
                        <a:t>3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/>
                        <a:t>[Owner]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/>
                        <a:t>Highlight risks of alternative approaches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/>
                        <a:t>Reduce recurring 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/>
                        <a:t>Reduce total cost of ownership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/>
                        <a:t>Increase uptime / availability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3749039"/>
          <a:ext cx="11247118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59"/>
                <a:gridCol w="914400"/>
                <a:gridCol w="914400"/>
                <a:gridCol w="914400"/>
                <a:gridCol w="1371600"/>
                <a:gridCol w="2743200"/>
                <a:gridCol w="1280159"/>
              </a:tblGrid>
              <a:tr h="45720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Top RFP selection criteria &amp; weight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Us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Comp. A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Comp. B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Action owner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To do / To say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Expected result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/>
                        <a:t>Price: recurring vs non-recurring — 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/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/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/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/>
                        <a:t>Demonstrate clever cost split and lower recurring 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/>
                        <a:t>Technical: uptime / scalability — 50%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/>
                        <a:t>5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/>
                        <a:t>3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/>
                        <a:t>5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/>
                        <a:t>Evidence of deployed base and ergonomics improvements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/>
                        <a:t>Implementation: lowest customer workload — 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/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/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/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/>
                        <a:t>Quantify HR benefits of our ramp-up approach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57607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222222"/>
                </a:solidFill>
              </a:rPr>
              <a:t>Key assumptions to test:  …        Key data to quantify:  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F66"/>
                </a:solidFill>
              </a:rPr>
              <a:t>Meridian Industries — Capture Plan Template  |  Section 3: Customer Value Proposition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</a:rPr>
              <a:t>Pricing Strategy &amp; Business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31750"/>
          </a:xfrm>
          <a:prstGeom prst="rect">
            <a:avLst/>
          </a:prstGeom>
          <a:solidFill>
            <a:srgbClr val="B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34440"/>
          <a:ext cx="36576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914400"/>
                <a:gridCol w="914400"/>
              </a:tblGrid>
              <a:tr h="310896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Cost assessment (all in M€)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Comp. A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Comp. B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/>
                        <a:t>Scope of supply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/>
                        <a:t>Amount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/>
                        <a:t>Services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/>
                        <a:t>Amount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/>
                        <a:t>Other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/>
                        <a:t>TOTAL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/>
                        <a:t>10 M€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206240" y="1234440"/>
          <a:ext cx="3474719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5554"/>
                <a:gridCol w="1489165"/>
              </a:tblGrid>
              <a:tr h="310896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Customer budget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/>
                        <a:t>Maximum addressable budget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/>
                        <a:t>10.5 M€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/>
                        <a:t>Minimum reasonable budget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/>
                        <a:t>Amount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/>
                        <a:t>Willingness to pay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/>
                        <a:t>H/M/L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/>
                        <a:t>Ability to pay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/>
                        <a:t>H/M/L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863840" y="1234440"/>
          <a:ext cx="3749038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9679"/>
                <a:gridCol w="2499359"/>
              </a:tblGrid>
              <a:tr h="77724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Price-to-win (PtW) range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10 – 10.5 M€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/>
                        <a:t>PtW dynamics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/>
                        <a:t>How we fit the range; how we reshape it (alternatives, options, T&amp;Cs); playoff strategy vs competitors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3017520"/>
          <a:ext cx="112471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8997696"/>
              </a:tblGrid>
              <a:tr h="7315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Business model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Ownership / hybrid / consumption; where profit is made in year 1 and over the project lifecycle; how revenue is grown or expenses reduced within the deal structure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/>
                        <a:t>Profit improvement plan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/>
                        <a:t>What we plan to do during project execution to reshape the deal structure and grow revenue (expand scope, upsell, cross-sell …)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4663440"/>
          <a:ext cx="1124712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98848"/>
                <a:gridCol w="2249424"/>
                <a:gridCol w="2249424"/>
                <a:gridCol w="2249424"/>
              </a:tblGrid>
              <a:tr h="24819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Top cost drivers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Base offer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Alternative #1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Alternative #2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/>
                        <a:t>Direct costs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/>
                        <a:t>Amount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/>
                        <a:t>External purchases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/>
                        <a:t>Amount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/>
                        <a:t>Direct selling costs / contingencies / other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/>
                        <a:t>TOTAL estimated costs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/>
                        <a:t>Estimated price at standard margin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/>
                        <a:t>11 M€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/>
                        <a:t>10 M€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8196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/>
                        <a:t>Value created by our differentiators vs. competition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/>
                        <a:t>2 M€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/>
                        <a:t>0.5 M€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F66"/>
                </a:solidFill>
              </a:rPr>
              <a:t>Meridian Industries — Capture Plan Template  |  Section 4: Pricing Strategy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</a:rPr>
              <a:t>Industrial &amp; Contractual Organisation</a:t>
            </a:r>
          </a:p>
          <a:p>
            <a:r>
              <a:rPr sz="1400" i="1">
                <a:solidFill>
                  <a:srgbClr val="5A5F66"/>
                </a:solidFill>
              </a:rPr>
              <a:t>(for run and build phases, if required)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31750"/>
          </a:xfrm>
          <a:prstGeom prst="rect">
            <a:avLst/>
          </a:prstGeom>
          <a:solidFill>
            <a:srgbClr val="B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</a:rPr>
              <a:t>•  Industrial set-up: make / team / buy split across the delivery scope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</a:rPr>
              <a:t>•  Contractual structure: prime, consortium, subcontracting chain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</a:rPr>
              <a:t>•  Key partners and their role in the value chain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</a:rPr>
              <a:t>•  Interfaces between industrial organisation and contractual risk allocation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F66"/>
                </a:solidFill>
              </a:rPr>
              <a:t>Meridian Industries — Capture Plan Template  |  Section 4: Pricing Strategy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</a:rPr>
              <a:t>Solution Strategy</a:t>
            </a:r>
          </a:p>
          <a:p>
            <a:r>
              <a:rPr sz="1400" i="1">
                <a:solidFill>
                  <a:srgbClr val="5A5F66"/>
                </a:solidFill>
              </a:rPr>
              <a:t>Fill one table per alternative solution — to recommend at Gate 1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31750"/>
          </a:xfrm>
          <a:prstGeom prst="rect">
            <a:avLst/>
          </a:prstGeom>
          <a:solidFill>
            <a:srgbClr val="B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80160"/>
          <a:ext cx="1124712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86300"/>
                <a:gridCol w="6560820"/>
              </a:tblGrid>
              <a:tr h="48463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b="1">
                          <a:solidFill>
                            <a:srgbClr val="FFFFFF"/>
                          </a:solidFill>
                        </a:rPr>
                        <a:t>Solution description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/>
                        <a:t>In scope of product policy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/>
                        <a:t>Supplying entity (make / team / buy)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/>
                        <a:t>Out of product policy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/>
                        <a:t>Supplying entity (make / team / buy)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/>
                        <a:t>Services included in the offer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/>
                        <a:t>Supplying entity (make / team / buy)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/>
                        <a:t>Benefits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/>
                        <a:t>Key benefits for 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/>
                        <a:t>Competitive edge?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/>
                        <a:t>Key benefits for the customer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/>
                        <a:t>Impact for the customer?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/>
                        <a:t>Main cost drivers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/>
                        <a:t>Key issues (technical / industrial / services)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/>
                        <a:t>Gaps vs. customer needs / concept of operations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F66"/>
                </a:solidFill>
              </a:rPr>
              <a:t>Meridian Industries — Capture Plan Template  |  Section 5: Solution Strategy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</a:rPr>
              <a:t>Solution Risk Profile</a:t>
            </a:r>
          </a:p>
          <a:p>
            <a:r>
              <a:rPr sz="1400" i="1">
                <a:solidFill>
                  <a:srgbClr val="5A5F66"/>
                </a:solidFill>
              </a:rPr>
              <a:t>Fill one table per alternative solution — to recommend at Gate 1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31750"/>
          </a:xfrm>
          <a:prstGeom prst="rect">
            <a:avLst/>
          </a:prstGeom>
          <a:solidFill>
            <a:srgbClr val="B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80160"/>
          <a:ext cx="11247119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1828800"/>
                <a:gridCol w="3931919"/>
              </a:tblGrid>
              <a:tr h="62865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b="1">
                          <a:solidFill>
                            <a:srgbClr val="FFFFFF"/>
                          </a:solidFill>
                        </a:rPr>
                        <a:t>Complexity area / major risks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b="1">
                          <a:solidFill>
                            <a:srgbClr val="FFFFFF"/>
                          </a:solidFill>
                        </a:rPr>
                        <a:t>Level of risk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b="1">
                          <a:solidFill>
                            <a:srgbClr val="FFFFFF"/>
                          </a:solidFill>
                        </a:rPr>
                        <a:t>Actions / comments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/>
                        <a:t>Customer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/>
                        <a:t>High / Medium / 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/>
                        <a:t>Requirement mastering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/>
                        <a:t>Solution innovation / maturity &amp; technical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/>
                        <a:t>Industrial organisation (incl. imposed-supplier cash risk)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/>
                        <a:t>Contractual / legal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/>
                        <a:t>Financial (financial arrangements, negative net-cash profile, country financial exposure, inflation)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/>
                        <a:t>Other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F66"/>
                </a:solidFill>
              </a:rPr>
              <a:t>Meridian Industries — Capture Plan Template  |  Section 5: Solution Risk Profile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</a:rPr>
              <a:t>Decision-Maker Plan</a:t>
            </a:r>
          </a:p>
          <a:p>
            <a:r>
              <a:rPr sz="1400" i="1">
                <a:solidFill>
                  <a:srgbClr val="5A5F66"/>
                </a:solidFill>
              </a:rPr>
              <a:t>One contact plan per customer organisation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31750"/>
          </a:xfrm>
          <a:prstGeom prst="rect">
            <a:avLst/>
          </a:prstGeom>
          <a:solidFill>
            <a:srgbClr val="B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</a:rPr>
              <a:t>•  Map decision-makers, influencers, sponsors, and gatekeepers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</a:rPr>
              <a:t>•  For each: role, level of influence, current disposition (supporter / neutral / adverse), relationship owner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</a:rPr>
              <a:t>•  Planned actions per contact and expected 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F66"/>
                </a:solidFill>
              </a:rPr>
              <a:t>Meridian Industries — Capture Plan Template  |  Section 6: Decision-Maker Plan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</a:rPr>
              <a:t>Action Timeline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31750"/>
          </a:xfrm>
          <a:prstGeom prst="rect">
            <a:avLst/>
          </a:prstGeom>
          <a:solidFill>
            <a:srgbClr val="B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71600"/>
          <a:ext cx="11247118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9654"/>
                <a:gridCol w="2699308"/>
                <a:gridCol w="2249424"/>
                <a:gridCol w="2249424"/>
                <a:gridCol w="1349654"/>
                <a:gridCol w="1349654"/>
              </a:tblGrid>
              <a:tr h="627017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Date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Action description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Expected results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People addressed (name / title / role)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Action owner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Commitment obtained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F66"/>
                </a:solidFill>
              </a:rPr>
              <a:t>Meridian Industries — Capture Plan Template  |  Section 6: Action Timeline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</a:rPr>
              <a:t>Pursue / Not-Pursue Decision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31750"/>
          </a:xfrm>
          <a:prstGeom prst="rect">
            <a:avLst/>
          </a:prstGeom>
          <a:solidFill>
            <a:srgbClr val="B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34440"/>
          <a:ext cx="1124712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4686300"/>
                <a:gridCol w="4686300"/>
              </a:tblGrid>
              <a:tr h="4114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Decision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Go for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Stop if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/>
                        <a:t>Description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/>
                        <a:t>Description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/>
                        <a:t>Description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2194560"/>
          <a:ext cx="11247118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79"/>
                <a:gridCol w="1371600"/>
                <a:gridCol w="4754880"/>
                <a:gridCol w="365759"/>
                <a:gridCol w="1828800"/>
              </a:tblGrid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Opportunity qualification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P1 score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P2 score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/>
                        <a:t>Is there a real project?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/>
                        <a:t>Yes/No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/>
                        <a:t>Is the opportunity aligned with our capabilities &amp; strategy?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/>
                        <a:t>Yes/No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/>
                        <a:t>Does the customer have a budget?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/>
                        <a:t>Yes/No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/>
                        <a:t>Do we have an established relationship with the customer?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/>
                        <a:t>Yes/No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/>
                        <a:t>Can we reach the decision-makers?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/>
                        <a:t>Yes/No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/>
                        <a:t>Do we have a reference proving a solid value proposition?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/>
                        <a:t>Yes/No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4206240"/>
          <a:ext cx="11247119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931919"/>
              </a:tblGrid>
              <a:tr h="4114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Decision date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Sales approval (signature)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/>
                        <a:t>P&amp;L owner (signature)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/>
                        <a:t>Account manager / country director (signature)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5212080"/>
          <a:ext cx="11247119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3657600"/>
                <a:gridCol w="2103119"/>
              </a:tblGrid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Capture team nomination (roles &amp; names)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Capture budget (planned / spent)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Bid budget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F66"/>
                </a:solidFill>
              </a:rPr>
              <a:t>Meridian Industries — Capture Plan Template  |  Section 7: Pursue / Not-Pursue Decision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72865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Backup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</a:rPr>
              <a:t>Opportunity Qualification — Checklist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31750"/>
          </a:xfrm>
          <a:prstGeom prst="rect">
            <a:avLst/>
          </a:prstGeom>
          <a:solidFill>
            <a:srgbClr val="B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80160"/>
          <a:ext cx="1124712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7498080"/>
              </a:tblGrid>
              <a:tr h="7315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Qualification criterion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Guiding questions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/>
                        <a:t>Is there a real project? (P1)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/>
                        <a:t>Is there a compelling event (political / economic / regulatory)? Is the customer internally aligned? Could the geopolitical environment affect the project?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/>
                        <a:t>Do we have an established relationship with the customer? (P2)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/>
                        <a:t>Does the customer know our brand, portfolio and references? Do we have prior references? Is there an incumbent competitor solution? Do we have customer feedback?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/>
                        <a:t>Is the opportunity aligned with our capabilities &amp; strategy? (P2)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/>
                        <a:t>Aligned with business-line strategy, marketing plan and product policy? Compliant with our rules? Aligned with country plan? Do we have the know-how and capacity? Is this a strategic must-win?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/>
                        <a:t>Do we have a reference proving a solid value proposition? (P2)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/>
                        <a:t>Can we meet customer expectations? Can we differentiate from competition? Is our proposed solution recognized by the market?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/>
                        <a:t>Can we reach the decision-makers? (P2)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/>
                        <a:t>Do we know the stakeholders and have a power map? Do we know the decision criteria and process? Do we have existing relationships or sponsors?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/>
                        <a:t>Does the customer have a budget? (P1)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/>
                        <a:t>Is the customer creditworthy? Can they secure a budget? Do we know their business plan?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F66"/>
                </a:solidFill>
              </a:rPr>
              <a:t>Meridian Industries — Capture Plan Template  |  Section 8: Backup — Qualification Checklist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</a:rPr>
              <a:t>Interactions With Other Customer Programs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31750"/>
          </a:xfrm>
          <a:prstGeom prst="rect">
            <a:avLst/>
          </a:prstGeom>
          <a:solidFill>
            <a:srgbClr val="B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80160"/>
          <a:ext cx="11247118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8070"/>
                <a:gridCol w="865163"/>
                <a:gridCol w="865163"/>
                <a:gridCol w="865163"/>
                <a:gridCol w="865163"/>
                <a:gridCol w="865163"/>
                <a:gridCol w="1730326"/>
                <a:gridCol w="2162907"/>
              </a:tblGrid>
              <a:tr h="79248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Program capacity consistency (importance 1/3/5/7)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BU-A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BU-B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BU-C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BU-D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BU-E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Contractual consistency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Pitch / arguments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/>
                        <a:t>Project xyz —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3749039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222222"/>
                </a:solidFill>
              </a:rPr>
              <a:t>Assumptions to validate, key decisions and key knowledge gaps: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4297680"/>
          <a:ext cx="11247117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81281"/>
                <a:gridCol w="995320"/>
                <a:gridCol w="995320"/>
                <a:gridCol w="995320"/>
                <a:gridCol w="995320"/>
                <a:gridCol w="995320"/>
                <a:gridCol w="2289236"/>
              </a:tblGrid>
              <a:tr h="70104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Functional / performance / planning consistency (importance 1/3/5/7)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BU-A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BU-B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BU-C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BU-D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BU-E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Pitch / arguments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/>
                        <a:t>Function xyz —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/>
                        <a:t>Milestone xyz — 7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F66"/>
                </a:solidFill>
              </a:rPr>
              <a:t>Meridian Industries — Capture Plan Template  |  Section 8: Backup — Program Interactions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</a:rPr>
              <a:t>Action Plan Archive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31750"/>
          </a:xfrm>
          <a:prstGeom prst="rect">
            <a:avLst/>
          </a:prstGeom>
          <a:solidFill>
            <a:srgbClr val="B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280160"/>
          <a:ext cx="11612879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2011680"/>
                <a:gridCol w="1188720"/>
                <a:gridCol w="1645920"/>
                <a:gridCol w="1188720"/>
                <a:gridCol w="1463040"/>
                <a:gridCol w="1188720"/>
                <a:gridCol w="1737359"/>
              </a:tblGrid>
              <a:tr h="746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Date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Action description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Type of action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People addressed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Action owner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Commitment obtained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Impact on score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Next action decided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F66"/>
                </a:solidFill>
              </a:rPr>
              <a:t>Meridian Industries — Capture Plan Template  |  Section 8: Backup — Action Plan Archive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</a:rPr>
              <a:t>Competitive Environment (Assumption)</a:t>
            </a:r>
          </a:p>
          <a:p>
            <a:r>
              <a:rPr sz="1400" i="1">
                <a:solidFill>
                  <a:srgbClr val="5A5F66"/>
                </a:solidFill>
              </a:rPr>
              <a:t>Based on publicly available information only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31750"/>
          </a:xfrm>
          <a:prstGeom prst="rect">
            <a:avLst/>
          </a:prstGeom>
          <a:solidFill>
            <a:srgbClr val="B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371600"/>
          <a:ext cx="11612879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4971"/>
                <a:gridCol w="2211977"/>
                <a:gridCol w="2211977"/>
                <a:gridCol w="2211977"/>
                <a:gridCol w="2211977"/>
              </a:tblGrid>
              <a:tr h="8229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Discriminators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Us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Competitor A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Competitor B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Competitor C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/>
                        <a:t>Strengths — strategy / solution / price; what would make the customer choose them without hesitation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/>
                        <a:t>People supporting — customer-side contacts favouring this bidder and their agenda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/>
                        <a:t>Weaknesses — what would make the customer eliminate this bidder without further reading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/>
                        <a:t>People adverse — customer-side contacts unfavourable to this bidder and their agenda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rPr sz="800"/>
                        <a:t>Impact of winning or losing — short and long term stakes for this bidder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F66"/>
                </a:solidFill>
              </a:rPr>
              <a:t>Meridian Industries — Capture Plan Template  |  Section 8: Backup — Competitive Environment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</a:rPr>
              <a:t>Non-Technical &amp; Special Requirements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31750"/>
          </a:xfrm>
          <a:prstGeom prst="rect">
            <a:avLst/>
          </a:prstGeom>
          <a:solidFill>
            <a:srgbClr val="B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5A5F66"/>
                </a:solidFill>
              </a:rPr>
              <a:t>Insert dedicated slide(s) for specific constraints as needed (e.g. countries flagged as sensitive for security reasons).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737360"/>
          <a:ext cx="11247119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5815"/>
                <a:gridCol w="2595489"/>
                <a:gridCol w="4325815"/>
              </a:tblGrid>
              <a:tr h="3810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Constraint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State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Actions to do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/>
                        <a:t>Industrial actors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/>
                        <a:t>Competition law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/>
                        <a:t>Partnership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/>
                        <a:t>Health, safety &amp; environment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/>
                        <a:t>Trade compliance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/>
                        <a:t>Non-technical requirements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/>
                        <a:t>Offset / transfer of technology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/>
                        <a:t>Quality &amp; airworthiness (non-conformities, special/critical items)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/>
                        <a:t>Implicit requirements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/>
                        <a:t>Security constraints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/>
                        <a:t>Insurance coverage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F66"/>
                </a:solidFill>
              </a:rPr>
              <a:t>Meridian Industries — Capture Plan Template  |  Section 8: Backup — Special Requirements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</a:rPr>
              <a:t>Trade Compliance Status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31750"/>
          </a:xfrm>
          <a:prstGeom prst="rect">
            <a:avLst/>
          </a:prstGeom>
          <a:solidFill>
            <a:srgbClr val="B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5A5F66"/>
                </a:solidFill>
              </a:rPr>
              <a:t>Prepared and signed by the Trade Compliance Officer. Mandatory according to bid context.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82880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</a:rPr>
              <a:t>Synthesis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</a:rPr>
              <a:t>…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</a:rPr>
              <a:t>Actions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</a:rPr>
              <a:t>…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4206240"/>
          <a:ext cx="73152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Validation date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/>
                        <a:t>Validated by (Trade Compliance Officer role)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F66"/>
                </a:solidFill>
              </a:rPr>
              <a:t>Meridian Industries — Capture Plan Template  |  Section 8: Backup — Trade Compliance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</a:rPr>
              <a:t>Scope Description</a:t>
            </a:r>
          </a:p>
          <a:p>
            <a:r>
              <a:rPr sz="1400" i="1">
                <a:solidFill>
                  <a:srgbClr val="5A5F66"/>
                </a:solidFill>
              </a:rPr>
              <a:t>Technical / industrial solution / services — max 2 slides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31750"/>
          </a:xfrm>
          <a:prstGeom prst="rect">
            <a:avLst/>
          </a:prstGeom>
          <a:solidFill>
            <a:srgbClr val="B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</a:rPr>
              <a:t>•  Scope of offer, cost drivers, main assumptions, key technical / industrial issues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</a:rPr>
              <a:t>•  Solution maturity and definition (delivery, verification/validation strategy, engineering environment,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</a:rPr>
              <a:t>   purchasing, products, services: training, through-life support, deployment plan)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</a:rPr>
              <a:t>•  Products proposed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</a:rPr>
              <a:t>•  Requirements elicitation approach, if relevant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F66"/>
                </a:solidFill>
              </a:rPr>
              <a:t>Meridian Industries — Capture Plan Template  |  Section 8: Backup — Scope Description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</a:rPr>
              <a:t>Log of Changes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31750"/>
          </a:xfrm>
          <a:prstGeom prst="rect">
            <a:avLst/>
          </a:prstGeom>
          <a:solidFill>
            <a:srgbClr val="B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8016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8229600"/>
                <a:gridCol w="1645920"/>
              </a:tblGrid>
              <a:tr h="100584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Revision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Publication date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/>
                        <a:t>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/>
                        <a:t>Creation of the capture plan template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/>
                        <a:t>[date]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/>
                        <a:t>002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/>
                        <a:t>Reordered sections; added Capture Strategy Pitch slide; added specific customer procurement process; aligned cost drivers with pricing strategy; added solution risk profile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/>
                        <a:t>[date]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/>
                        <a:t>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/>
                        <a:t>Added cash-management items: imposed-supplier cash risk, country financial-risk exposure, financial arrangements that can lead to no-bid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/>
                        <a:t>[date]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/>
                        <a:t>004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/>
                        <a:t>Incorporated operational feedback: added Must-Win decision; split key buying factors from selection criteria; simplified pricing strategy section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/>
                        <a:t>[date]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F66"/>
                </a:solidFill>
              </a:rPr>
              <a:t>Meridian Industries — Capture Plan Template  |  Section 8: Backup — Log of Changes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</a:rPr>
              <a:t>Log of Changes (continued)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31750"/>
          </a:xfrm>
          <a:prstGeom prst="rect">
            <a:avLst/>
          </a:prstGeom>
          <a:solidFill>
            <a:srgbClr val="B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80160"/>
          <a:ext cx="11247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8229600"/>
                <a:gridCol w="1645920"/>
              </a:tblGrid>
              <a:tr h="6400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Revision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Publication date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/>
                        <a:t>005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/>
                        <a:t>Added inflation-protection guidance and customer-specific historical/program impacts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/>
                        <a:t>[date]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/>
                        <a:t>006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/>
                        <a:t>Introduced competitive-intelligence tracking cell and analyst-nomination reminder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/>
                        <a:t>[date]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/>
                        <a:t>007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/>
                        <a:t>Added audit-applicability flag on the opportunity summary and trade-compliance status section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/>
                        <a:t>[date]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/>
                        <a:t>008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/>
                        <a:t>Minor edits to highlight services scope across solution and scope-description sections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sz="900"/>
                        <a:t>[date]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F66"/>
                </a:solidFill>
              </a:rPr>
              <a:t>Meridian Industries — Capture Plan Template  |  Section 8: Backup — Log of Changes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</a:rPr>
              <a:t>Sign-Off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31750"/>
          </a:xfrm>
          <a:prstGeom prst="rect">
            <a:avLst/>
          </a:prstGeom>
          <a:solidFill>
            <a:srgbClr val="B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71600"/>
          <a:ext cx="11247119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657600"/>
                <a:gridCol w="3657600"/>
                <a:gridCol w="2103119"/>
              </a:tblGrid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b="1">
                          <a:solidFill>
                            <a:srgbClr val="FFFFFF"/>
                          </a:solidFill>
                        </a:rPr>
                        <a:t>Actor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b="1">
                          <a:solidFill>
                            <a:srgbClr val="FFFFFF"/>
                          </a:solidFill>
                        </a:rPr>
                        <a:t>Role / job title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b="1">
                          <a:solidFill>
                            <a:srgbClr val="FFFFFF"/>
                          </a:solidFill>
                        </a:rPr>
                        <a:t>Name &amp; signature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b="1">
                          <a:solidFill>
                            <a:srgbClr val="FFFFFF"/>
                          </a:solidFill>
                        </a:rPr>
                        <a:t>Signature date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/>
                        <a:t>Written by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/>
                        <a:t>Bid Manager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/>
                        <a:t>Verified by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/>
                        <a:t>Bid Governance Reviewer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/>
                        <a:t>Approved by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/>
                        <a:t>Bid Governance Approver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3200400"/>
          <a:ext cx="11247119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657600"/>
                <a:gridCol w="3657600"/>
                <a:gridCol w="2103119"/>
              </a:tblGrid>
              <a:tr h="4114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b="1">
                          <a:solidFill>
                            <a:srgbClr val="FFFFFF"/>
                          </a:solidFill>
                        </a:rPr>
                        <a:t>Actor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b="1">
                          <a:solidFill>
                            <a:srgbClr val="FFFFFF"/>
                          </a:solidFill>
                        </a:rPr>
                        <a:t>Role &amp; organisation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b="1">
                          <a:solidFill>
                            <a:srgbClr val="FFFFFF"/>
                          </a:solidFill>
                        </a:rPr>
                        <a:t>Name &amp; signature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 b="1">
                          <a:solidFill>
                            <a:srgbClr val="FFFFFF"/>
                          </a:solidFill>
                        </a:rPr>
                        <a:t>Signature date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000"/>
                        <a:t>Approved by (external, if required)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F66"/>
                </a:solidFill>
              </a:rPr>
              <a:t>Meridian Industries — Capture Plan Template  |  Section 8: Sign-Off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